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VKS on VCF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023360"/>
            <a:ext cx="11612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0EA"/>
                </a:solidFill>
              </a:rPr>
              <a:t>vSphere Kubernetes Service 端到端自動化
VMware Cloud Foundation 9.1 (rtolab)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12064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AF50"/>
                </a:solidFill>
              </a:rPr>
              <a:t>✅  2026-06-08 實機跑通  •  Path A (DTGW+VNA)  •  v1.34.2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目標：四種方法起 VKS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• UI（畫面）— vCenter Activate Supervisor wizard + Namespace + VKS cluster，7 步，逐步截圖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• API（raw REST / curl）— vCenter /api、NSX /policy/api/v1、Supervisor kube API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• Python — requests 打 REST，step1~4 腳本，lab.py 共用設定，支援環境變數覆寫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• PowerShell — PowerCLI + REST，Step0~4.ps1，-DryRun 支援，生產可直接跑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兩條網路路線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870960" cy="718457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5280" y="1097280"/>
            <a:ext cx="3870960" cy="718457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0" y="1097280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Path A — DTGW + VNA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6240" y="1097280"/>
            <a:ext cx="3870960" cy="718457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1960" y="1097280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Path B — Edge + Centralized TGW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15737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41137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Transit GW 跑在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80" y="1815737"/>
            <a:ext cx="3870960" cy="71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1000" y="1841137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ESXi host（Distributed）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240" y="1815737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1960" y="1841137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NSX Edge VM（Centralized）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34194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59594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需要 NSX Edge cluster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5280" y="2534194"/>
            <a:ext cx="3870960" cy="71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1000" y="2559594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❌ 不需要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6240" y="2534194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1960" y="2559594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需要（2× MEDIUM edge VM）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52651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78051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Stateful 服務（SNAT/LB）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5280" y="3252651"/>
            <a:ext cx="3870960" cy="71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91000" y="3278051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VNA cluster（9.1 新功能）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6240" y="3252651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1960" y="3278051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Edge node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71108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996508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Lab 現狀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5280" y="3971108"/>
            <a:ext cx="3870960" cy="71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91000" y="3996508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預設 DTGW，只缺 VNA → ✅ 部署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6240" y="3971108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1960" y="3996508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Edge cluster 未部 → 待辦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89565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714965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部署成本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280" y="4689565"/>
            <a:ext cx="3870960" cy="71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91000" y="4714965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部 1 個 VNA cluster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4689565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1960" y="4714965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部 edge cluster + 改 TGW span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408022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433422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本次實測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5280" y="5408022"/>
            <a:ext cx="3870960" cy="71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91000" y="5433422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端到端成功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6240" y="5408022"/>
            <a:ext cx="3870960" cy="718457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1960" y="5433422"/>
            <a:ext cx="3870960" cy="718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—（lab edge 未部，未測）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Lab NSX 實況（2026-06-08）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NSX 版本：9.1.0.0.25318225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vCenter：192.168.114.11 (kosten-vcf91-vc.rtolab.local)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NSX Manager VIP：192.168.114.13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Default TGW：存在，ClusterBasedSpan = DTGW，transit subnet 100.64.0.0/21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Default VPC Connectivity Profile：存在，指向 default DTGW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NSX Edge cluster：0 個（inventory 規劃 vcf-m02-edge-cl01 未部）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VNA cluster：0 個（feature 在，未部署）→ Path A 需先部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IP 規劃（rtolab 192.168.114.0/24）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870960" cy="498763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5280" y="1005840"/>
            <a:ext cx="3870960" cy="498763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0" y="1005840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IP / CIDR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6240" y="1005840"/>
            <a:ext cx="3870960" cy="498763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1960" y="1005840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備註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4603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30003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Supervisor CP VMs (5 IPs)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80" y="1504603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1000" y="1530003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192.168.114.101–105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240" y="1504603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1960" y="1530003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兩路線通用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03366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028766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Supervisor mgmt gateway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5280" y="2003366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1000" y="2028766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192.168.114.254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6240" y="2003366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1960" y="2028766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兩路線通用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02129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27529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NSX External IP Block (LB/SNAT)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5280" y="2502129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91000" y="2527529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192.168.114.128/26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6240" y="2502129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1960" y="2527529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/26 邊界對齊！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00892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26292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Private TGW IP Block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5280" y="3000892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91000" y="3026292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172.30.0.0/16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6240" y="3000892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1960" y="3026292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/16 硬規定；避開 VCFA 172.27/16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499655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525055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Supervisor Service CIDR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280" y="3499655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91000" y="3525055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172.29.0.0/16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3499655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1960" y="3525055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K8s ClusterIP（Supervisor 用）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998418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023818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VPC Default Private CIDR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5280" y="3998418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91000" y="4023818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172.28.0.0/16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6240" y="3998418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1960" y="4023818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namespace 子網來源（不可與 TGW block 重疊）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497181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522581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VKS cluster Pod CIDR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5280" y="4497181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91000" y="4522581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100.96.0.0/11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6240" y="4497181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1960" y="4522581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避開 192.168.114.0/24 管理網段！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995944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021344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VKS cluster Service CIDR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45280" y="4995944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91000" y="5021344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10.96.0.0/12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16240" y="4995944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61960" y="5021344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per-cluster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494707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20107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K8s API Server (Supervisor)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45280" y="5494707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91000" y="5520107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192.168.114.132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6240" y="5494707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61960" y="5520107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從 External Block 分配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993470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6018870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VKS CP 外部 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45280" y="5993470"/>
            <a:ext cx="3870960" cy="498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91000" y="6018870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192.168.114.135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16240" y="5993470"/>
            <a:ext cx="3870960" cy="498763"/>
          </a:xfrm>
          <a:prstGeom prst="rect">
            <a:avLst/>
          </a:prstGeom>
          <a:solidFill>
            <a:srgbClr val="E8F4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61960" y="6018870"/>
            <a:ext cx="3870960" cy="49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從 External Block 分配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執行流程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Step 0  common/Step0-Check-Prereqs.ps1  — 前置條件確認（兩路線都先跑）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Step 1  path-a-dtgw/Step1-Setup-DTGW.ps1  — NSX IP blocks + VPC Connectivity Profile + VNA cluster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Step 2  common/Step2-Enable-Supervisor.ps1  — 啟用 Supervisor（VPC mode）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Step 3  common/Step3-New-Namespace.ps1  — 建 namespace（storage policy + access）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Step 4  common/Step4-New-VksCluster.ps1  — 建 VKS guest cluster（Cluster CR via kube API）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          → kubeconfig 輸出，給 automation 直接用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所有 Step*.ps1 支援 -DryRun（印 payload 不送出）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NSX 前置設定：IP Address Blocks</a:t>
            </a:r>
          </a:p>
        </p:txBody>
      </p:sp>
      <p:pic>
        <p:nvPicPr>
          <p:cNvPr id="6" name="Picture 5" descr="40-nsx-ip-blo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External Block（SNAT/LB 來源）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27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vcf-m02-vks-ext-ipblock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653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192.168.114.128/26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03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/26 邊界對齊！(.128,.192,.0)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Private TGW Block（VKS 必要）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186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vcf-m02-vks-priv-tgw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570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172.30.0.0/16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9534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/16 硬規定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(系統預設 default--kube-s...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172.28.0.0/16 勿動)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NSX 前置設定：VPC Connectivity Profile</a:t>
            </a:r>
          </a:p>
        </p:txBody>
      </p:sp>
      <p:pic>
        <p:nvPicPr>
          <p:cNvPr id="6" name="Picture 5" descr="41-nsx-vpc-profi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vcf-m02-vks-vpc-profile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27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Transit Gateway: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653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Default Transit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03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(DTGW / distributed)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External IP Blocks: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186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vcf-m02-vks-ext-ipblock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570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9534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Private TGW IP Blocks: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vcf-m02-vks-priv-tgw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Status: Success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Activate Supervisor Wizard
實機 UI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023360"/>
            <a:ext cx="11612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0EA"/>
                </a:solidFill>
              </a:rPr>
              <a:t>Steps 1–7 全部截圖（2026-06-08 Step1-3；2026-06-09 Step4-7）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入口 &amp; Step 1 — vCenter + 網路模式</a:t>
            </a:r>
          </a:p>
        </p:txBody>
      </p:sp>
      <p:pic>
        <p:nvPicPr>
          <p:cNvPr id="6" name="Picture 5" descr="00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120640"/>
          </a:xfrm>
          <a:prstGeom prst="rect">
            <a:avLst/>
          </a:prstGeom>
        </p:spPr>
      </p:pic>
      <p:pic>
        <p:nvPicPr>
          <p:cNvPr id="7" name="Picture 6" descr="01-step1-vcenter-net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⚠️ networking stack 只有「VCF Networking with VPC」和「VDS」兩個，9.1 沒有獨立 NSX-classic 選項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Step 2 — Supervisor 位置（Cluster Deployment）</a:t>
            </a:r>
          </a:p>
        </p:txBody>
      </p:sp>
      <p:pic>
        <p:nvPicPr>
          <p:cNvPr id="6" name="Picture 5" descr="06-step2-name-cluster-sel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CLUSTER DEPLOYMENT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2704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6537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Supervisor name: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0370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Cluster: vcf-m02-cl01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036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COMPATIBLE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1868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4 hosts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5701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CPU: 137.04 GHz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9534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Memory: 171.51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⚠️ 先點 datacenter 節點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vcf-m02-dc，COMPATIBLE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4865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tab 才會列出 cluster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Step 3 — Storage Policy</a:t>
            </a:r>
          </a:p>
        </p:txBody>
      </p:sp>
      <p:pic>
        <p:nvPicPr>
          <p:cNvPr id="6" name="Picture 5" descr="07-step3-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三個 policy 全選：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27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Management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65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Policy - Single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037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(FTT=0，lab 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Control Plane Storage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18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Ephemeral Disks Storage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57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Image Cache Storage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953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⚠️ SPBM dropdown 在 nested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vCenter 載入 ~2–10 分鐘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renderer 凍結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486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Step 4-7 於隔日補截圖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Step 4 — Management Network</a:t>
            </a:r>
          </a:p>
        </p:txBody>
      </p:sp>
      <p:pic>
        <p:nvPicPr>
          <p:cNvPr id="6" name="Picture 5" descr="08-step4-mgmt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IP Assignment Mode: Static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36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domain-c9 Network: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836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vcf-m02-cl01-vds01-pg-mgmt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311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78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IP Addresses: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192.168.114.101 – 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73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Subnet Mask: 255.255.255.0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210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Gateway: 192.168.114.254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684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DNS Server(s): 192.168.114.200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15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DNS Search: rtolab.local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NTP Server(s): 192.168.114.200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Step 5 — Workload Network（VPC mode）</a:t>
            </a:r>
          </a:p>
        </p:txBody>
      </p:sp>
      <p:pic>
        <p:nvPicPr>
          <p:cNvPr id="6" name="Picture 5" descr="09-step5-workload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NSX Project: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VPC Connectivity Profile: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vcf-m02-vks-vpc-profile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External IP Blocks: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88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vcf-m02-vks-ext-ipblock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192.168.114.128/26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29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49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Private TGW IP Blocks: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vcf-m02-vks-priv-tgw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172.30.0.0/16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029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Service CIDR: 172.29.0.0/16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349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DNS/NTP: 192.168.114.200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Step 6 — Advanced Settings</a:t>
            </a:r>
          </a:p>
        </p:txBody>
      </p:sp>
      <p:pic>
        <p:nvPicPr>
          <p:cNvPr id="6" name="Picture 5" descr="10-step6-advan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Supervisor Control Plane Size: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1790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470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(CPUs: 4 / Memory: 16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76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Storage: 48 GB)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054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API Server DNS Name(s):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6382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Optional（lab 留空）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930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221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Export configuration: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5137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Unchecked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097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無 Content Library 選項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389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（Wizard 另有 Prerequisites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4681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步驟指定 Library）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Wizard Step 7 — Ready to Complete</a:t>
            </a:r>
          </a:p>
        </p:txBody>
      </p:sp>
      <p:pic>
        <p:nvPicPr>
          <p:cNvPr id="6" name="Picture 5" descr="11-step7-rea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vCenter Server: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1790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kosten-vcf91-vc.rtolab.local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470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Network: VCF Networking with VPC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76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054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Supervisor Name: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6382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vSphere Zone: domain-c9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930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CP HA: Disabled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221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5137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Mgmt IP: .101–.105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GW: .254 / DNS/NTP: .200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097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389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⚠️ 未按 FINISH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4681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（截圖目的，已另用 API 部署）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Supervisor Configure — 管理網路（Management Network）</a:t>
            </a:r>
          </a:p>
        </p:txBody>
      </p:sp>
      <p:pic>
        <p:nvPicPr>
          <p:cNvPr id="6" name="Picture 5" descr="43-vc-sup-configure-network-mgm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IP Assignment Mode: Static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36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Network: vcf-m02-cl01-vds01-pg-mgmt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83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Starting IP: 192.168.114.101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311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(5 IPs → .101 ~ .105)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78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Subnet Mask: 255.255.255.0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Gateway: 192.168.114.254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73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DNS: 192.168.114.200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21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DNS Domain: rtolab.local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68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NTP: 192.168.114.200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Supervisor Configure — 工作負載網路（Workload Networks）</a:t>
            </a:r>
          </a:p>
        </p:txBody>
      </p:sp>
      <p:pic>
        <p:nvPicPr>
          <p:cNvPr id="6" name="Picture 5" descr="43b-vc-sup-configure-network-work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NSX Project: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27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VPC Connectivity Profile: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653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vcf-m02-vks-vpc-profile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03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External IP Blocks: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vcf-m02-vks-ext-ipblock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186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192.168.114.128/26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570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Usage: 12.5%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9534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Private TGW IP Blocks: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vcf-m02-vks-priv-tgw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172.30.0.0/16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486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Usage: 0.02%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Supervisor Configure — 儲存設定（Storage）</a:t>
            </a:r>
          </a:p>
        </p:txBody>
      </p:sp>
      <p:pic>
        <p:nvPicPr>
          <p:cNvPr id="6" name="Picture 5" descr="44-vc-sup-configure-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005840"/>
            <a:ext cx="3657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Control Plane Nodes: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27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Management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653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Policy - Single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03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(FTT=0, nested 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Ephemeral Disks: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186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同上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570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9534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Image Cache: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同上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⚠️ 生產環境建議用 FTT=1+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486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(此為 lab single-node)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Supervisor 運行狀態</a:t>
            </a:r>
          </a:p>
        </p:txBody>
      </p:sp>
      <p:pic>
        <p:nvPicPr>
          <p:cNvPr id="6" name="Picture 5" descr="30-supervisor-run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必備：兩個 Content Library</a:t>
            </a:r>
          </a:p>
        </p:txBody>
      </p:sp>
      <p:pic>
        <p:nvPicPr>
          <p:cNvPr id="6" name="Picture 5" descr="34-content-library-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005840"/>
            <a:ext cx="41148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188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tkg-content-library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90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Supervisor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922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訂閱 .../supervisor/v1/latest/lib.json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93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tkg-tkr-library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TKG node image (Photon 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992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訂閱 .../v2/latest/lib.json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009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7.69 GB / 123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02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9044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⚠️ 少了 tkr-library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206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tkr-resolver 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07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"Could not resolve KR/OSImage"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8097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→ cluster 建不起來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Namespace vks-automation</a:t>
            </a:r>
          </a:p>
        </p:txBody>
      </p:sp>
      <p:pic>
        <p:nvPicPr>
          <p:cNvPr id="6" name="Picture 5" descr="33-namespace-vks-autom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029200"/>
          </a:xfrm>
          <a:prstGeom prst="rect">
            <a:avLst/>
          </a:prstGeom>
        </p:spPr>
      </p:pic>
      <p:pic>
        <p:nvPicPr>
          <p:cNvPr id="7" name="Picture 6" descr="32-namespaces-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VKS Cluster 建立完成</a:t>
            </a:r>
          </a:p>
        </p:txBody>
      </p:sp>
      <p:pic>
        <p:nvPicPr>
          <p:cNvPr id="6" name="Picture 5" descr="37-vks-cluster-run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EA"/>
                </a:solidFill>
              </a:rPr>
              <a:t>vks-auto-01  •  Available = True  •  v1.34.2+vmware.2  •  CP 192.168.114.135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CP + Worker VM 狀態</a:t>
            </a:r>
          </a:p>
        </p:txBody>
      </p:sp>
      <p:pic>
        <p:nvPicPr>
          <p:cNvPr id="6" name="Picture 5" descr="36-vks-cluster-v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CP: vks-auto-01-7f6ms-fmgz9  •  Worker: vks-auto-01-node-pool-1-5cjwv-...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踩坑必修正（否則建不起來）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6928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66928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Pod CIDR 不能用預設 192.168.0.0/16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→ 與管理網段 192.168.114.0/24 重疊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75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→ kubeadm init 後 Antrea overlay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225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  劫持 DNS / Registry 流量 → CP never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70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✅ 改用 100.96.0.0/11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MachineHealthCheck timeout 太短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→ 預設 nodeStartupTimeout = 3600s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75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→ nested-on-nested 啟動 &gt;60min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225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→ MHC 提早 remediate → 砍 CP → 死循環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70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✅ topology.controlPlane.healthCheck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   .checks.nodeStartupTimeoutSeconds: 14400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EA"/>
                </a:solidFill>
              </a:rPr>
              <a:t>① Pod CIDR 衝突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EA"/>
                </a:solidFill>
              </a:rPr>
              <a:t>② MachineHealthCheck Timeout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NSX SNAT 驗證通過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實測：cluster 建立過程 NSX SNAT session 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SNAT bytes out：99,960 packets / 144 MB（拉 container image）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51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SNAT source：192.168.114.128/26 external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2257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VNA cluster 負責 SNAT/LB（Path A DTGW 路線）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0EA"/>
                </a:solidFill>
              </a:rPr>
              <a:t>kubectl get nodes 輸出：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0EA"/>
                </a:solidFill>
              </a:rPr>
              <a:t>  vks-auto-01-7f6ms-fmgz9       Ready   control-plane   v1.34.2+vmware.2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1246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0EA"/>
                </a:solidFill>
              </a:rPr>
              <a:t>  vks-auto-01-node-pool-1-...   Ready   &lt;none&gt;          v1.34.2+vmware.2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99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Container runtime：containerd 2.1.5-fips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OS：Photon OS (Linux)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Python 方法（開發用）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安裝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76756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pip install -r requirements.txt   # requests, PyYAML, kubernetes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1388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設定（或 export VC=... VCPASS=... NSXPASS=...）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03704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python/lab.py  — 共用連線設定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46020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Step 1 — NSX IP blocks + VPC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0652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python step1_setup_dtgw.py --dry-run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72968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python step1_setup_dtgw.py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15284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Step 2 — 啟用 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99916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python step2_enable_supervisor.py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42232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4548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Step 3 — 建 namespace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26864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python step3_new_namespace.py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9180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11496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0EA"/>
                </a:solidFill>
              </a:rPr>
              <a:t># Step 4 — 建 VKS cluster (kubectl 或 kubernetes client)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53812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kubectl-vsphere login --server=192.168.114.132 -u administrator@vsphere.local --insecure-skip-tls-verify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96128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python step4_new_vks_cluster.py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38444"/>
            <a:ext cx="11247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python step4_new_vks_cluster.py --client   # 純 python-kubernetes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612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PowerShell &amp; API 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48640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85216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PowerShell（common/ + path-a-dtgw/）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6537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pwsh Step0-Check-Prereqs.ps1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pwsh path-a-dtgw/Step1-Setup-DTGW.ps1 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 -DryRun    # 先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pwsh path-a-dtgw/Step1-Setup-DTGW.ps1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pwsh Step2-Enable-Supervisor.ps1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2841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pwsh Step3-New-Namespace.ps1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2102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pwsh Step4-New-VksCluster.ps1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PowerCLI cmdlet 路線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9884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Enable-WMCluster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9145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New-WMNamespace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28016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API（curl / 語言無關）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57276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86537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認證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5798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SID=$(curl -u admin:pass -X 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5059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https://vc/api/session)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74320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03580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NSX IP 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32841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curl -X PATCH https://nsx/policy/api/v1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62102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/infra/ip-blocks/vcf-m02-vks-ext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91363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2062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啟用 Supervisor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49884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curl -X POST https://vc/api/vcenter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79145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/namespace-management/supervisors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08406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37667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EA"/>
                </a:solidFill>
              </a:rPr>
              <a:t># VKS cluster (Cluster CR)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6692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kubectl apply -f common/vks-cluster.yaml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023360"/>
            <a:ext cx="11612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0EA"/>
                </a:solidFill>
              </a:rPr>
              <a:t>VKS on VCF 9.1 — 端到端自動化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EA"/>
                </a:solidFill>
              </a:rPr>
              <a:t>→  GitHub Repo：github.com/kostenyang/vcf9.1vks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0799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EA"/>
                </a:solidFill>
              </a:rPr>
              <a:t>→  README.md  →  四種方法、IP 規劃、執行流程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0118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EA"/>
                </a:solidFill>
              </a:rPr>
              <a:t>→  research/05-test-execution.md  →  踩坑與修正完整紀錄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294376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EA"/>
                </a:solidFill>
              </a:rPr>
              <a:t>→  python/  →  Step1~4 Python 腳本（requests + kubernetes client）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68756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EA"/>
                </a:solidFill>
              </a:rPr>
              <a:t>→  common/vks-cluster.yaml  →  ClusterClass CR（含 Pod CIDR + MHC 修正）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0807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EA"/>
                </a:solidFill>
              </a:rPr>
              <a:t>→  screenshots/  →  38 張實機截圖（Wizard Step1-7 + NSX + Supervisor Configure 前置設定）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