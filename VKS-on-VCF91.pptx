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286000"/>
            <a:ext cx="11612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VKS on VCF 9.1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023360"/>
            <a:ext cx="11612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00B0EA"/>
                </a:solidFill>
              </a:rPr>
              <a:t>vSphere Kubernetes Service 端到端自動化
VMware Cloud Foundation 9.1 (rtolab)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12064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CAF50"/>
                </a:solidFill>
              </a:rPr>
              <a:t>✅  2026-06-08 實機跑通  •  Path A (DTGW+VNA)  •  v1.34.2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目標：四種方法起 VKS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097280"/>
            <a:ext cx="11612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>
                <a:solidFill>
                  <a:srgbClr val="1A1A2E"/>
                </a:solidFill>
              </a:rPr>
              <a:t>• UI（畫面）— vCenter Activate Supervisor wizard + Namespace + VKS cluster，7 步，逐步截圖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2E"/>
                </a:solidFill>
              </a:rPr>
              <a:t>• API（raw REST / curl）— vCenter /api、NSX /policy/api/v1、Supervisor kube API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2E"/>
                </a:solidFill>
              </a:rPr>
              <a:t>• Python — requests 打 REST，step1~4 腳本，lab.py 共用設定，支援環境變數覆寫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2E"/>
                </a:solidFill>
              </a:rPr>
              <a:t>• PowerShell — PowerCLI + REST，Step0~4.ps1，-DryRun 支援，生產可直接跑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兩條網路路線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870960" cy="718457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097280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項目</a:t>
            </a:r>
          </a:p>
        </p:txBody>
      </p:sp>
      <p:sp>
        <p:nvSpPr>
          <p:cNvPr id="8" name="Rectangle 7"/>
          <p:cNvSpPr/>
          <p:nvPr/>
        </p:nvSpPr>
        <p:spPr>
          <a:xfrm>
            <a:off x="4145280" y="1097280"/>
            <a:ext cx="3870960" cy="718457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91000" y="1097280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Path A — DTGW + VNA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16240" y="1097280"/>
            <a:ext cx="3870960" cy="718457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61960" y="1097280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Path B — Edge + Centralized TGW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815737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1841137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Transit GW 跑在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45280" y="1815737"/>
            <a:ext cx="3870960" cy="71845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91000" y="1841137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ESXi host（Distributed）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6240" y="1815737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1960" y="1841137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NSX Edge VM（Centralized）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34194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2559594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需要 NSX Edge cluster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45280" y="2534194"/>
            <a:ext cx="3870960" cy="71845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91000" y="2559594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❌ 不需要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16240" y="2534194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61960" y="2559594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✅ 需要（2× MEDIUM edge VM）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252651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3278051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Stateful 服務（SNAT/LB）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45280" y="3252651"/>
            <a:ext cx="3870960" cy="71845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91000" y="3278051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VNA cluster（9.1 新功能）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16240" y="3252651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61960" y="3278051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Edge node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971108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3996508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Lab 現狀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45280" y="3971108"/>
            <a:ext cx="3870960" cy="71845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91000" y="3996508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預設 DTGW，只缺 VNA → ✅ 部署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16240" y="3971108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61960" y="3996508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Edge cluster 未部 → 待辦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4689565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4714965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部署成本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45280" y="4689565"/>
            <a:ext cx="3870960" cy="71845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91000" y="4714965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部 1 個 VNA cluster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16240" y="4689565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61960" y="4714965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部 edge cluster + 改 TGW span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5408022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433422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本次實測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45280" y="5408022"/>
            <a:ext cx="3870960" cy="71845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91000" y="5433422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✅ 端到端成功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16240" y="5408022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61960" y="5433422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—（lab edge 未部，未測）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Lab NSX 實況（2026-06-08）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097280"/>
            <a:ext cx="11612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NSX 版本：9.1.0.0.25318225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vCenter：192.168.114.11 (kosten-vcf91-vc.rtolab.local)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NSX Manager VIP：192.168.114.13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Default TGW：存在，ClusterBasedSpan = DTGW，transit subnet 100.64.0.0/21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Default VPC Connectivity Profile：存在，指向 default DTGW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NSX Edge cluster：0 個（inventory 規劃 vcf-m02-edge-cl01 未部）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VNA cluster：0 個（feature 在，未部署）→ Path A 需先部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IP 規劃（rtolab 192.168.114.0/24）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05840"/>
            <a:ext cx="3870960" cy="5486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00584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用途</a:t>
            </a:r>
          </a:p>
        </p:txBody>
      </p:sp>
      <p:sp>
        <p:nvSpPr>
          <p:cNvPr id="8" name="Rectangle 7"/>
          <p:cNvSpPr/>
          <p:nvPr/>
        </p:nvSpPr>
        <p:spPr>
          <a:xfrm>
            <a:off x="4145280" y="1005840"/>
            <a:ext cx="3870960" cy="54864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91000" y="100584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IP / CIDR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16240" y="1005840"/>
            <a:ext cx="3870960" cy="54864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61960" y="100584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備註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554480"/>
            <a:ext cx="3870960" cy="548640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157988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Supervisor CP VMs (5 IPs)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45280" y="1554480"/>
            <a:ext cx="38709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91000" y="157988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192.168.114.101–105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6240" y="1554480"/>
            <a:ext cx="3870960" cy="548640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1960" y="157988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兩路線通用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103120"/>
            <a:ext cx="3870960" cy="548640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212852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Supervisor mgmt gateway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45280" y="2103120"/>
            <a:ext cx="38709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91000" y="212852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192.168.114.254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16240" y="2103120"/>
            <a:ext cx="3870960" cy="548640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61960" y="212852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兩路線通用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651760"/>
            <a:ext cx="3870960" cy="548640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267716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NSX External IP Block (LB/SNAT)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45280" y="2651760"/>
            <a:ext cx="38709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91000" y="267716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192.168.114.128/26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16240" y="2651760"/>
            <a:ext cx="3870960" cy="548640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61960" y="267716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/26 邊界對齊！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200400"/>
            <a:ext cx="3870960" cy="548640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322580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Private TGW IP Block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45280" y="3200400"/>
            <a:ext cx="38709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91000" y="322580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172.30.0.0/16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16240" y="3200400"/>
            <a:ext cx="3870960" cy="548640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61960" y="322580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/16 硬規定；避開 VCFA 172.27/16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3749040"/>
            <a:ext cx="3870960" cy="548640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377444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Supervisor Service CIDR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45280" y="3749040"/>
            <a:ext cx="38709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91000" y="377444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10.96.0.0/23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16240" y="3749040"/>
            <a:ext cx="3870960" cy="548640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61960" y="377444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K8s ClusterIP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4297680"/>
            <a:ext cx="3870960" cy="548640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432308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VKS cluster Pod CIDR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45280" y="4297680"/>
            <a:ext cx="38709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91000" y="432308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100.96.0.0/11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16240" y="4297680"/>
            <a:ext cx="3870960" cy="548640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61960" y="432308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避開 192.168.114.0/24 管理網段！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4846320"/>
            <a:ext cx="3870960" cy="548640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0040" y="487172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VKS cluster Service CIDR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45280" y="4846320"/>
            <a:ext cx="38709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91000" y="487172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10.96.0.0/12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16240" y="4846320"/>
            <a:ext cx="3870960" cy="548640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061960" y="487172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per-cluster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5394960"/>
            <a:ext cx="3870960" cy="548640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0040" y="542036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K8s API Server (Supervisor)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45280" y="5394960"/>
            <a:ext cx="38709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91000" y="542036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192.168.114.132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16240" y="5394960"/>
            <a:ext cx="3870960" cy="548640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061960" y="542036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從 External Block 分配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5943600"/>
            <a:ext cx="3870960" cy="548640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0040" y="596900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VKS CP 外部 IP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45280" y="5943600"/>
            <a:ext cx="38709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191000" y="596900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192.168.114.135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016240" y="5943600"/>
            <a:ext cx="3870960" cy="548640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061960" y="5969000"/>
            <a:ext cx="387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從 External Block 分配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執行流程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097280"/>
            <a:ext cx="11612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Step 0  common/Step0-Check-Prereqs.ps1  — 前置條件確認（兩路線都先跑）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Step 1  path-a-dtgw/Step1-Setup-DTGW.ps1  — NSX IP blocks + VPC Connectivity Profile + VNA cluster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Step 2  common/Step2-Enable-Supervisor.ps1  — 啟用 Supervisor（VPC mode）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Step 3  common/Step3-New-Namespace.ps1  — 建 namespace（storage policy + access）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Step 4  common/Step4-New-VksCluster.ps1  — 建 VKS guest cluster（Cluster CR via kube API）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          → kubeconfig 輸出，給 automation 直接用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12648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所有 Step*.ps1 支援 -DryRun（印 payload 不送出）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Supervisor 運行狀態</a:t>
            </a:r>
          </a:p>
        </p:txBody>
      </p:sp>
      <p:pic>
        <p:nvPicPr>
          <p:cNvPr id="6" name="Picture 5" descr="30-supervisor-runn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必備：兩個 Content Library</a:t>
            </a:r>
          </a:p>
        </p:txBody>
      </p:sp>
      <p:pic>
        <p:nvPicPr>
          <p:cNvPr id="6" name="Picture 5" descr="34-content-library-li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315200" cy="5029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772400" y="1005840"/>
            <a:ext cx="4114800" cy="5029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118872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tkg-content-library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149047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→ Supervisor image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79222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→ 訂閱 .../supervisor/v1/latest/lib.json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093976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39572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tkg-tkr-library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69748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→ TKG node image (Photon OS)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99923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→ 訂閱 .../v2/latest/lib.json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30098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→ 7.69 GB / 123 items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602736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39044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⚠️ 少了 tkr-library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420624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tkr-resolver 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50799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"Could not resolve KR/OSImage"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480974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→ cluster 建不起來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Namespace vks-automation</a:t>
            </a:r>
          </a:p>
        </p:txBody>
      </p:sp>
      <p:pic>
        <p:nvPicPr>
          <p:cNvPr id="6" name="Picture 5" descr="33-namespace-vks-autom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5669280" cy="5029200"/>
          </a:xfrm>
          <a:prstGeom prst="rect">
            <a:avLst/>
          </a:prstGeom>
        </p:spPr>
      </p:pic>
      <p:pic>
        <p:nvPicPr>
          <p:cNvPr id="7" name="Picture 6" descr="32-namespaces-lis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05840"/>
            <a:ext cx="57607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VKS Cluster 建立完成</a:t>
            </a:r>
          </a:p>
        </p:txBody>
      </p:sp>
      <p:pic>
        <p:nvPicPr>
          <p:cNvPr id="6" name="Picture 5" descr="37-vks-cluster-runn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17220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B0EA"/>
                </a:solidFill>
              </a:rPr>
              <a:t>vks-auto-01  •  Available = True  •  v1.34.2+vmware.2  •  CP 192.168.114.135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CP + Worker VM 狀態</a:t>
            </a:r>
          </a:p>
        </p:txBody>
      </p:sp>
      <p:pic>
        <p:nvPicPr>
          <p:cNvPr id="6" name="Picture 5" descr="36-vks-cluster-vm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17220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A1A2E"/>
                </a:solidFill>
              </a:rPr>
              <a:t>CP: vks-auto-01-7f6ms-fmgz9  •  Worker: vks-auto-01-node-pool-1-5cjwv-...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踩坑必修正（否則建不起來）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5669280" cy="5029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0" y="1097280"/>
            <a:ext cx="5669280" cy="5029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Pod CIDR 不能用預設 192.168.0.0/16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62763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→ 與管理網段 192.168.114.0/24 重疊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975104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→ kubeadm init 後 Antrea overlay route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3225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  劫持 DNS / Registry 流量 → CP never Ready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6700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✅ 改用 100.96.0.0/11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MachineHealthCheck timeout 太短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62763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→ 預設 nodeStartupTimeout = 3600s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75104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→ nested-on-nested 啟動 &gt;60min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3225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→ MHC 提早 remediate → 砍 CP → 死循環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6700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✅ topology.controlPlane.healthCheck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   .checks.nodeStartupTimeoutSeconds: 14400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0EA"/>
                </a:solidFill>
              </a:rPr>
              <a:t>① Pod CIDR 衝突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1051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0EA"/>
                </a:solidFill>
              </a:rPr>
              <a:t>② MachineHealthCheck Timeout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NSX SNAT 驗證通過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11612880" cy="5029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實測：cluster 建立過程 NSX SNAT session 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27632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SNAT bytes out：99,960 packets / 144 MB（拉 container image）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75104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SNAT source：192.168.114.128/26 external block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22576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VNA cluster 負責 SNAT/LB（Path A DTGW 路線）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700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0175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B0EA"/>
                </a:solidFill>
              </a:rPr>
              <a:t>kubectl get nodes 輸出：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364992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B0EA"/>
                </a:solidFill>
              </a:rPr>
              <a:t>  vks-auto-01-7f6ms-fmgz9       Ready   control-plane   v1.34.2+vmware.2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12464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B0EA"/>
                </a:solidFill>
              </a:rPr>
              <a:t>  vks-auto-01-node-pool-1-...   Ready   &lt;none&gt;          v1.34.2+vmware.2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059936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40740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Container runtime：containerd 2.1.5-fips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7548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OS：Photon OS (Linux)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Python 方法（開發用）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11612880" cy="5303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0B0EA"/>
                </a:solidFill>
              </a:rPr>
              <a:t># 安裝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76756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pip install -r requirements.txt   # requests, PyYAML, kubernetes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19072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1388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0B0EA"/>
                </a:solidFill>
              </a:rPr>
              <a:t># 設定（或 export VC=... VCPASS=... NSXPASS=...）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03704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0B0EA"/>
                </a:solidFill>
              </a:rPr>
              <a:t># python/lab.py  — 共用連線設定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46020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688336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0B0EA"/>
                </a:solidFill>
              </a:rPr>
              <a:t># Step 1 — NSX IP blocks + VPC profile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30652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python step1_setup_dtgw.py --dry-run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172968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python step1_setup_dtgw.py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415284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657600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0B0EA"/>
                </a:solidFill>
              </a:rPr>
              <a:t># Step 2 — 啟用 Supervisor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899916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python step2_enable_supervisor.py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142232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384548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0B0EA"/>
                </a:solidFill>
              </a:rPr>
              <a:t># Step 3 — 建 namespace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626864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python step3_new_namespace.py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869180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111496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0B0EA"/>
                </a:solidFill>
              </a:rPr>
              <a:t># Step 4 — 建 VKS cluster (kubectl 或 kubernetes client)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353812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kubectl-vsphere login --server=192.168.114.132 -u administrator@vsphere.local --insecure-skip-tls-verify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596128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python step4_new_vks_cluster.py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838444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python step4_new_vks_cluster.py --client   # 純 python-kubernetes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PowerShell &amp; API 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5486400" cy="5029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35040" y="1097280"/>
            <a:ext cx="5852160" cy="5029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B0EA"/>
                </a:solidFill>
              </a:rPr>
              <a:t># PowerShell（common/ + path-a-dtgw/）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65376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pwsh Step0-Check-Prereqs.ps1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57984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pwsh path-a-dtgw/Step1-Setup-DTGW.ps1 \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50592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   -DryRun    # 先 dry-run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743200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pwsh path-a-dtgw/Step1-Setup-DTGW.ps1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35808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pwsh Step2-Enable-Supervisor.ps1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28416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pwsh Step3-New-Namespace.ps1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21024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pwsh Step4-New-VksCluster.ps1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13632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06240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B0EA"/>
                </a:solidFill>
              </a:rPr>
              <a:t># PowerCLI cmdlet 路線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498848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Enable-WMCluster ...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791456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New-WMNamespace ...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280160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B0EA"/>
                </a:solidFill>
              </a:rPr>
              <a:t># API（curl / 語言無關）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1572768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1865376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B0EA"/>
                </a:solidFill>
              </a:rPr>
              <a:t># 認證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2157984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SID=$(curl -u admin:pass -X POST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2450592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https://vc/api/session)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2743200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3035808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B0EA"/>
                </a:solidFill>
              </a:rPr>
              <a:t># NSX IP blocks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3328416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curl -X PATCH https://nsx/policy/api/v1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200" y="3621024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/infra/ip-blocks/vcf-m02-vks-ext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913632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4206240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B0EA"/>
                </a:solidFill>
              </a:rPr>
              <a:t># 啟用 Supervisor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4498848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curl -X POST https://vc/api/vcenter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4791456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/namespace-management/supervisors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5084064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200" y="5376672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B0EA"/>
                </a:solidFill>
              </a:rPr>
              <a:t># VKS cluster (Cluster CR)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5669280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kubectl apply -f common/vks-cluster.yaml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286000"/>
            <a:ext cx="11612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完成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023360"/>
            <a:ext cx="11612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00B0EA"/>
                </a:solidFill>
              </a:rPr>
              <a:t>VKS on VCF 9.1 — 端到端自動化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11480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0EA"/>
                </a:solidFill>
              </a:rPr>
              <a:t>→  GitHub Repo：github.com/kostenyang/vcf9.1vks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507992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0EA"/>
                </a:solidFill>
              </a:rPr>
              <a:t>→  README.md  →  四種方法、IP 規劃、執行流程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4901184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0EA"/>
                </a:solidFill>
              </a:rPr>
              <a:t>→  research/05-test-execution.md  →  踩坑與修正完整紀錄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5294376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0EA"/>
                </a:solidFill>
              </a:rPr>
              <a:t>→  python/  →  Step1~4 Python 腳本（requests + kubernetes client）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5687568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0EA"/>
                </a:solidFill>
              </a:rPr>
              <a:t>→  common/vks-cluster.yaml  →  ClusterClass CR（含 Pod CIDR + MHC 修正）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608076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0EA"/>
                </a:solidFill>
              </a:rPr>
              <a:t>→  screenshots/  →  37 張實機截圖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